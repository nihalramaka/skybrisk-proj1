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77" r:id="rId3"/>
    <p:sldId id="278" r:id="rId4"/>
    <p:sldId id="287" r:id="rId5"/>
    <p:sldId id="288" r:id="rId6"/>
    <p:sldId id="264" r:id="rId7"/>
    <p:sldId id="279" r:id="rId8"/>
    <p:sldId id="280" r:id="rId9"/>
    <p:sldId id="281" r:id="rId10"/>
    <p:sldId id="285" r:id="rId11"/>
    <p:sldId id="282" r:id="rId12"/>
    <p:sldId id="283" r:id="rId13"/>
    <p:sldId id="286" r:id="rId14"/>
    <p:sldId id="284" r:id="rId15"/>
    <p:sldId id="27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73" userDrawn="1">
          <p15:clr>
            <a:srgbClr val="A4A3A4"/>
          </p15:clr>
        </p15:guide>
        <p15:guide id="2" pos="72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6C60"/>
    <a:srgbClr val="A3887F"/>
    <a:srgbClr val="AA7B6F"/>
    <a:srgbClr val="9D766C"/>
    <a:srgbClr val="888782"/>
    <a:srgbClr val="BB95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9" d="100"/>
          <a:sy n="79" d="100"/>
        </p:scale>
        <p:origin x="-160" y="-64"/>
      </p:cViewPr>
      <p:guideLst>
        <p:guide orient="horz" pos="2173"/>
        <p:guide pos="7256"/>
      </p:guideLst>
    </p:cSldViewPr>
  </p:slideViewPr>
  <p:notesTextViewPr>
    <p:cViewPr>
      <p:scale>
        <a:sx n="1" d="1"/>
        <a:sy n="1" d="1"/>
      </p:scale>
      <p:origin x="0" y="0"/>
    </p:cViewPr>
  </p:notesTextViewPr>
  <p:sorterViewPr>
    <p:cViewPr>
      <p:scale>
        <a:sx n="70" d="100"/>
        <a:sy n="70" d="100"/>
      </p:scale>
      <p:origin x="0" y="-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8459552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969388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EEE34AE-A437-4F3E-B716-EB508BD9E717}" type="datetimeFigureOut">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DBC202-F902-435E-BE16-4194137ECC8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EEE34AE-A437-4F3E-B716-EB508BD9E717}" type="datetimeFigureOut">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DBC202-F902-435E-BE16-4194137ECC8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4149975" y="724997"/>
            <a:ext cx="6752494" cy="2852737"/>
          </a:xfrm>
        </p:spPr>
        <p:txBody>
          <a:bodyPr anchor="b"/>
          <a:lstStyle>
            <a:lvl1pPr algn="ctr">
              <a:defRPr sz="6000">
                <a:solidFill>
                  <a:schemeClr val="bg1"/>
                </a:solidFill>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149975" y="3604722"/>
            <a:ext cx="6031524" cy="1500187"/>
          </a:xfrm>
        </p:spPr>
        <p:txBody>
          <a:bodyPr>
            <a:normAutofit/>
          </a:bodyPr>
          <a:lstStyle>
            <a:lvl1pPr marL="0" indent="0" algn="ctr">
              <a:buNone/>
              <a:defRPr sz="1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EEE34AE-A437-4F3E-B716-EB508BD9E717}" type="datetimeFigureOut">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DBC202-F902-435E-BE16-4194137ECC89}" type="slidenum">
              <a:rPr lang="zh-CN" altLang="en-US" smtClean="0"/>
              <a:t>‹#›</a:t>
            </a:fld>
            <a:endParaRPr lang="zh-CN" altLang="en-US"/>
          </a:p>
        </p:txBody>
      </p:sp>
      <p:sp>
        <p:nvSpPr>
          <p:cNvPr id="11" name="文本占位符 10"/>
          <p:cNvSpPr>
            <a:spLocks noGrp="1"/>
          </p:cNvSpPr>
          <p:nvPr>
            <p:ph type="body" sz="quarter" idx="13" hasCustomPrompt="1"/>
          </p:nvPr>
        </p:nvSpPr>
        <p:spPr>
          <a:xfrm>
            <a:off x="839788" y="2557219"/>
            <a:ext cx="2775284" cy="1807662"/>
          </a:xfrm>
        </p:spPr>
        <p:txBody>
          <a:bodyPr anchor="ctr">
            <a:noAutofit/>
          </a:bodyPr>
          <a:lstStyle>
            <a:lvl1pPr marL="0" indent="0" algn="ctr">
              <a:buNone/>
              <a:defRPr sz="12000">
                <a:solidFill>
                  <a:schemeClr val="bg1"/>
                </a:solidFill>
              </a:defRPr>
            </a:lvl1pPr>
          </a:lstStyle>
          <a:p>
            <a:pPr lvl="0"/>
            <a:r>
              <a:rPr lang="en-US" altLang="zh-CN" dirty="0" smtClean="0"/>
              <a:t>#</a:t>
            </a:r>
            <a:endParaRPr lang="zh-CN" altLang="en-US" dirty="0"/>
          </a:p>
        </p:txBody>
      </p:sp>
      <p:sp>
        <p:nvSpPr>
          <p:cNvPr id="12" name="Freeform 5"/>
          <p:cNvSpPr/>
          <p:nvPr userDrawn="1"/>
        </p:nvSpPr>
        <p:spPr bwMode="auto">
          <a:xfrm>
            <a:off x="952834" y="2557219"/>
            <a:ext cx="2662238" cy="1935163"/>
          </a:xfrm>
          <a:custGeom>
            <a:avLst/>
            <a:gdLst>
              <a:gd name="T0" fmla="*/ 614 w 1677"/>
              <a:gd name="T1" fmla="*/ 0 h 1219"/>
              <a:gd name="T2" fmla="*/ 0 w 1677"/>
              <a:gd name="T3" fmla="*/ 0 h 1219"/>
              <a:gd name="T4" fmla="*/ 0 w 1677"/>
              <a:gd name="T5" fmla="*/ 1219 h 1219"/>
              <a:gd name="T6" fmla="*/ 1677 w 1677"/>
              <a:gd name="T7" fmla="*/ 1219 h 1219"/>
              <a:gd name="T8" fmla="*/ 1677 w 1677"/>
              <a:gd name="T9" fmla="*/ 5 h 1219"/>
              <a:gd name="T10" fmla="*/ 1170 w 1677"/>
              <a:gd name="T11" fmla="*/ 5 h 1219"/>
            </a:gdLst>
            <a:ahLst/>
            <a:cxnLst>
              <a:cxn ang="0">
                <a:pos x="T0" y="T1"/>
              </a:cxn>
              <a:cxn ang="0">
                <a:pos x="T2" y="T3"/>
              </a:cxn>
              <a:cxn ang="0">
                <a:pos x="T4" y="T5"/>
              </a:cxn>
              <a:cxn ang="0">
                <a:pos x="T6" y="T7"/>
              </a:cxn>
              <a:cxn ang="0">
                <a:pos x="T8" y="T9"/>
              </a:cxn>
              <a:cxn ang="0">
                <a:pos x="T10" y="T11"/>
              </a:cxn>
            </a:cxnLst>
            <a:rect l="0" t="0" r="r" b="b"/>
            <a:pathLst>
              <a:path w="1677" h="1219">
                <a:moveTo>
                  <a:pt x="614" y="0"/>
                </a:moveTo>
                <a:lnTo>
                  <a:pt x="0" y="0"/>
                </a:lnTo>
                <a:lnTo>
                  <a:pt x="0" y="1219"/>
                </a:lnTo>
                <a:lnTo>
                  <a:pt x="1677" y="1219"/>
                </a:lnTo>
                <a:lnTo>
                  <a:pt x="1677" y="5"/>
                </a:lnTo>
                <a:lnTo>
                  <a:pt x="1170" y="5"/>
                </a:lnTo>
              </a:path>
            </a:pathLst>
          </a:custGeom>
          <a:noFill/>
          <a:ln w="30163"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4149975" y="724997"/>
            <a:ext cx="6752494" cy="2852737"/>
          </a:xfrm>
        </p:spPr>
        <p:txBody>
          <a:bodyPr anchor="b"/>
          <a:lstStyle>
            <a:lvl1pPr algn="ctr">
              <a:defRPr sz="6000">
                <a:solidFill>
                  <a:schemeClr val="bg1"/>
                </a:solidFill>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149975" y="3604722"/>
            <a:ext cx="6031524" cy="1500187"/>
          </a:xfrm>
        </p:spPr>
        <p:txBody>
          <a:bodyPr>
            <a:normAutofit/>
          </a:bodyPr>
          <a:lstStyle>
            <a:lvl1pPr marL="0" indent="0" algn="ctr">
              <a:buNone/>
              <a:defRPr sz="1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EEE34AE-A437-4F3E-B716-EB508BD9E717}" type="datetimeFigureOut">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DBC202-F902-435E-BE16-4194137ECC89}" type="slidenum">
              <a:rPr lang="zh-CN" altLang="en-US" smtClean="0"/>
              <a:t>‹#›</a:t>
            </a:fld>
            <a:endParaRPr lang="zh-CN" altLang="en-US"/>
          </a:p>
        </p:txBody>
      </p:sp>
      <p:sp>
        <p:nvSpPr>
          <p:cNvPr id="11" name="文本占位符 10"/>
          <p:cNvSpPr>
            <a:spLocks noGrp="1"/>
          </p:cNvSpPr>
          <p:nvPr>
            <p:ph type="body" sz="quarter" idx="13" hasCustomPrompt="1"/>
          </p:nvPr>
        </p:nvSpPr>
        <p:spPr>
          <a:xfrm>
            <a:off x="839788" y="2557219"/>
            <a:ext cx="2775284" cy="1807662"/>
          </a:xfrm>
        </p:spPr>
        <p:txBody>
          <a:bodyPr anchor="ctr">
            <a:noAutofit/>
          </a:bodyPr>
          <a:lstStyle>
            <a:lvl1pPr marL="0" indent="0" algn="ctr">
              <a:buNone/>
              <a:defRPr sz="12000">
                <a:solidFill>
                  <a:schemeClr val="bg1"/>
                </a:solidFill>
              </a:defRPr>
            </a:lvl1pPr>
          </a:lstStyle>
          <a:p>
            <a:pPr lvl="0"/>
            <a:r>
              <a:rPr lang="en-US" altLang="zh-CN" dirty="0" smtClean="0"/>
              <a:t>#</a:t>
            </a:r>
            <a:endParaRPr lang="zh-CN" altLang="en-US" dirty="0"/>
          </a:p>
        </p:txBody>
      </p:sp>
      <p:sp>
        <p:nvSpPr>
          <p:cNvPr id="9" name="Freeform 5"/>
          <p:cNvSpPr/>
          <p:nvPr userDrawn="1"/>
        </p:nvSpPr>
        <p:spPr bwMode="auto">
          <a:xfrm>
            <a:off x="952835" y="2540838"/>
            <a:ext cx="2662237" cy="1941513"/>
          </a:xfrm>
          <a:custGeom>
            <a:avLst/>
            <a:gdLst>
              <a:gd name="T0" fmla="*/ 344 w 1677"/>
              <a:gd name="T1" fmla="*/ 0 h 1223"/>
              <a:gd name="T2" fmla="*/ 0 w 1677"/>
              <a:gd name="T3" fmla="*/ 0 h 1223"/>
              <a:gd name="T4" fmla="*/ 0 w 1677"/>
              <a:gd name="T5" fmla="*/ 1223 h 1223"/>
              <a:gd name="T6" fmla="*/ 1677 w 1677"/>
              <a:gd name="T7" fmla="*/ 1223 h 1223"/>
              <a:gd name="T8" fmla="*/ 1677 w 1677"/>
              <a:gd name="T9" fmla="*/ 9 h 1223"/>
              <a:gd name="T10" fmla="*/ 1364 w 1677"/>
              <a:gd name="T11" fmla="*/ 9 h 1223"/>
            </a:gdLst>
            <a:ahLst/>
            <a:cxnLst>
              <a:cxn ang="0">
                <a:pos x="T0" y="T1"/>
              </a:cxn>
              <a:cxn ang="0">
                <a:pos x="T2" y="T3"/>
              </a:cxn>
              <a:cxn ang="0">
                <a:pos x="T4" y="T5"/>
              </a:cxn>
              <a:cxn ang="0">
                <a:pos x="T6" y="T7"/>
              </a:cxn>
              <a:cxn ang="0">
                <a:pos x="T8" y="T9"/>
              </a:cxn>
              <a:cxn ang="0">
                <a:pos x="T10" y="T11"/>
              </a:cxn>
            </a:cxnLst>
            <a:rect l="0" t="0" r="r" b="b"/>
            <a:pathLst>
              <a:path w="1677" h="1223">
                <a:moveTo>
                  <a:pt x="344" y="0"/>
                </a:moveTo>
                <a:lnTo>
                  <a:pt x="0" y="0"/>
                </a:lnTo>
                <a:lnTo>
                  <a:pt x="0" y="1223"/>
                </a:lnTo>
                <a:lnTo>
                  <a:pt x="1677" y="1223"/>
                </a:lnTo>
                <a:lnTo>
                  <a:pt x="1677" y="9"/>
                </a:lnTo>
                <a:lnTo>
                  <a:pt x="1364" y="9"/>
                </a:lnTo>
              </a:path>
            </a:pathLst>
          </a:custGeom>
          <a:noFill/>
          <a:ln w="30163"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EEE34AE-A437-4F3E-B716-EB508BD9E717}" type="datetimeFigureOut">
              <a:rPr lang="zh-CN" altLang="en-US" smtClean="0"/>
              <a:t>2026/6/20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DBC202-F902-435E-BE16-4194137ECC8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EEE34AE-A437-4F3E-B716-EB508BD9E717}" type="datetimeFigureOut">
              <a:rPr lang="zh-CN" altLang="en-US" smtClean="0"/>
              <a:t>2026/6/20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0DBC202-F902-435E-BE16-4194137ECC8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fld id="{1EEE34AE-A437-4F3E-B716-EB508BD9E717}" type="datetimeFigureOut">
              <a:rPr lang="zh-CN" altLang="en-US" smtClean="0"/>
              <a:t>2026/6/20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fld id="{C0DBC202-F902-435E-BE16-4194137ECC8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44320" y="1419828"/>
            <a:ext cx="9144000" cy="2387600"/>
          </a:xfrm>
        </p:spPr>
        <p:txBody>
          <a:bodyPr>
            <a:noAutofit/>
          </a:bodyPr>
          <a:lstStyle/>
          <a:p>
            <a:r>
              <a:rPr lang="en-US" altLang="zh-CN" dirty="0" smtClean="0">
                <a:cs typeface="Arial" panose="020B0604020202020204" pitchFamily="34" charset="0"/>
              </a:rPr>
              <a:t>CONTACT BOOK APPLICATION.</a:t>
            </a:r>
            <a:endParaRPr lang="en-US" altLang="zh-CN" dirty="0" smtClean="0">
              <a:latin typeface="Arial" panose="020B0604020202020204" pitchFamily="34" charset="0"/>
              <a:cs typeface="Arial" panose="020B0604020202020204" pitchFamily="34" charset="0"/>
            </a:endParaRPr>
          </a:p>
        </p:txBody>
      </p:sp>
      <p:sp>
        <p:nvSpPr>
          <p:cNvPr id="32" name="任意多边形 31"/>
          <p:cNvSpPr/>
          <p:nvPr/>
        </p:nvSpPr>
        <p:spPr>
          <a:xfrm>
            <a:off x="4100195" y="3820845"/>
            <a:ext cx="4032250" cy="25400"/>
          </a:xfrm>
          <a:custGeom>
            <a:avLst/>
            <a:gdLst>
              <a:gd name="connsiteX0" fmla="*/ 0 w 1224115"/>
              <a:gd name="connsiteY0" fmla="*/ 0 h 45719"/>
              <a:gd name="connsiteX1" fmla="*/ 1224115 w 1224115"/>
              <a:gd name="connsiteY1" fmla="*/ 0 h 45719"/>
              <a:gd name="connsiteX2" fmla="*/ 1224115 w 1224115"/>
              <a:gd name="connsiteY2" fmla="*/ 45719 h 45719"/>
              <a:gd name="connsiteX3" fmla="*/ 0 w 1224115"/>
              <a:gd name="connsiteY3" fmla="*/ 45719 h 45719"/>
              <a:gd name="connsiteX4" fmla="*/ 0 w 1224115"/>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115" h="45719">
                <a:moveTo>
                  <a:pt x="0" y="0"/>
                </a:moveTo>
                <a:lnTo>
                  <a:pt x="1224115" y="0"/>
                </a:lnTo>
                <a:lnTo>
                  <a:pt x="1224115" y="45719"/>
                </a:lnTo>
                <a:lnTo>
                  <a:pt x="0" y="45719"/>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Arial" panose="020B0604020202020204" pitchFamily="34" charset="0"/>
            </a:endParaRPr>
          </a:p>
        </p:txBody>
      </p:sp>
      <p:sp>
        <p:nvSpPr>
          <p:cNvPr id="5" name="任意多边形 31"/>
          <p:cNvSpPr/>
          <p:nvPr/>
        </p:nvSpPr>
        <p:spPr>
          <a:xfrm>
            <a:off x="4100045" y="1799751"/>
            <a:ext cx="4032000" cy="25200"/>
          </a:xfrm>
          <a:custGeom>
            <a:avLst/>
            <a:gdLst>
              <a:gd name="connsiteX0" fmla="*/ 0 w 1224115"/>
              <a:gd name="connsiteY0" fmla="*/ 0 h 45719"/>
              <a:gd name="connsiteX1" fmla="*/ 1224115 w 1224115"/>
              <a:gd name="connsiteY1" fmla="*/ 0 h 45719"/>
              <a:gd name="connsiteX2" fmla="*/ 1224115 w 1224115"/>
              <a:gd name="connsiteY2" fmla="*/ 45719 h 45719"/>
              <a:gd name="connsiteX3" fmla="*/ 0 w 1224115"/>
              <a:gd name="connsiteY3" fmla="*/ 45719 h 45719"/>
              <a:gd name="connsiteX4" fmla="*/ 0 w 1224115"/>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115" h="45719">
                <a:moveTo>
                  <a:pt x="0" y="0"/>
                </a:moveTo>
                <a:lnTo>
                  <a:pt x="1224115" y="0"/>
                </a:lnTo>
                <a:lnTo>
                  <a:pt x="1224115" y="45719"/>
                </a:lnTo>
                <a:lnTo>
                  <a:pt x="0" y="45719"/>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Arial" panose="020B0604020202020204" pitchFamily="34" charset="0"/>
            </a:endParaRPr>
          </a:p>
        </p:txBody>
      </p:sp>
      <p:sp>
        <p:nvSpPr>
          <p:cNvPr id="3" name="TextBox 2"/>
          <p:cNvSpPr txBox="1"/>
          <p:nvPr/>
        </p:nvSpPr>
        <p:spPr>
          <a:xfrm>
            <a:off x="1145406" y="5380506"/>
            <a:ext cx="2011680" cy="769441"/>
          </a:xfrm>
          <a:prstGeom prst="rect">
            <a:avLst/>
          </a:prstGeom>
          <a:noFill/>
        </p:spPr>
        <p:txBody>
          <a:bodyPr wrap="square" rtlCol="0">
            <a:spAutoFit/>
          </a:bodyPr>
          <a:lstStyle/>
          <a:p>
            <a:r>
              <a:rPr lang="en-US" sz="2200" b="1" dirty="0" smtClean="0">
                <a:latin typeface="Times New Roman" pitchFamily="18" charset="0"/>
                <a:cs typeface="Times New Roman" pitchFamily="18" charset="0"/>
              </a:rPr>
              <a:t>Presented By:</a:t>
            </a:r>
          </a:p>
          <a:p>
            <a:r>
              <a:rPr lang="en-US" sz="2200" b="1" dirty="0" err="1" smtClean="0">
                <a:latin typeface="Times New Roman" pitchFamily="18" charset="0"/>
                <a:cs typeface="Times New Roman" pitchFamily="18" charset="0"/>
              </a:rPr>
              <a:t>Ramaka</a:t>
            </a:r>
            <a:r>
              <a:rPr lang="en-US" sz="2200" b="1" dirty="0" smtClean="0">
                <a:latin typeface="Times New Roman" pitchFamily="18" charset="0"/>
                <a:cs typeface="Times New Roman" pitchFamily="18" charset="0"/>
              </a:rPr>
              <a:t> </a:t>
            </a:r>
            <a:r>
              <a:rPr lang="en-US" sz="2200" b="1" dirty="0" err="1" smtClean="0">
                <a:latin typeface="Times New Roman" pitchFamily="18" charset="0"/>
                <a:cs typeface="Times New Roman" pitchFamily="18" charset="0"/>
              </a:rPr>
              <a:t>Nihal</a:t>
            </a:r>
            <a:endParaRPr lang="en-US" sz="22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2070"/>
          </a:xfrm>
        </p:spPr>
        <p:txBody>
          <a:bodyPr/>
          <a:lstStyle/>
          <a:p>
            <a:pPr algn="ctr"/>
            <a:r>
              <a:rPr lang="en-US"/>
              <a:t>CONTENTS</a:t>
            </a:r>
          </a:p>
        </p:txBody>
      </p:sp>
      <p:sp>
        <p:nvSpPr>
          <p:cNvPr id="3" name="Content Placeholder 2"/>
          <p:cNvSpPr>
            <a:spLocks noGrp="1"/>
          </p:cNvSpPr>
          <p:nvPr>
            <p:ph idx="1"/>
          </p:nvPr>
        </p:nvSpPr>
        <p:spPr>
          <a:xfrm>
            <a:off x="838200" y="1073426"/>
            <a:ext cx="10515600" cy="5103854"/>
          </a:xfrm>
        </p:spPr>
        <p:txBody>
          <a:bodyPr>
            <a:normAutofit fontScale="92500" lnSpcReduction="10000"/>
          </a:bodyPr>
          <a:lstStyle/>
          <a:p>
            <a:r>
              <a:rPr lang="en-US" sz="2600" dirty="0" smtClean="0">
                <a:latin typeface="Times New Roman" pitchFamily="18" charset="0"/>
                <a:cs typeface="Times New Roman" pitchFamily="18" charset="0"/>
              </a:rPr>
              <a:t>Abstract</a:t>
            </a:r>
          </a:p>
          <a:p>
            <a:r>
              <a:rPr lang="en-US" sz="2600" dirty="0" smtClean="0">
                <a:latin typeface="Times New Roman" pitchFamily="18" charset="0"/>
                <a:cs typeface="Times New Roman" pitchFamily="18" charset="0"/>
              </a:rPr>
              <a:t>Problem Statement</a:t>
            </a:r>
          </a:p>
          <a:p>
            <a:r>
              <a:rPr lang="en-US" sz="2600" dirty="0" smtClean="0">
                <a:latin typeface="Times New Roman" pitchFamily="18" charset="0"/>
                <a:cs typeface="Times New Roman" pitchFamily="18" charset="0"/>
              </a:rPr>
              <a:t>Objective</a:t>
            </a:r>
            <a:endParaRPr lang="en-US" sz="2600" dirty="0">
              <a:latin typeface="Times New Roman" pitchFamily="18" charset="0"/>
              <a:cs typeface="Times New Roman" pitchFamily="18" charset="0"/>
            </a:endParaRPr>
          </a:p>
          <a:p>
            <a:r>
              <a:rPr lang="en-US" sz="2600" dirty="0" smtClean="0">
                <a:latin typeface="Times New Roman" pitchFamily="18" charset="0"/>
                <a:cs typeface="Times New Roman" pitchFamily="18" charset="0"/>
              </a:rPr>
              <a:t>Introduction</a:t>
            </a:r>
            <a:endParaRPr lang="en-US" sz="2600" dirty="0">
              <a:latin typeface="Times New Roman" pitchFamily="18" charset="0"/>
              <a:cs typeface="Times New Roman" pitchFamily="18" charset="0"/>
            </a:endParaRPr>
          </a:p>
          <a:p>
            <a:r>
              <a:rPr lang="en-US" sz="2600" dirty="0" smtClean="0">
                <a:latin typeface="Times New Roman" pitchFamily="18" charset="0"/>
                <a:cs typeface="Times New Roman" pitchFamily="18" charset="0"/>
              </a:rPr>
              <a:t>System </a:t>
            </a:r>
            <a:r>
              <a:rPr lang="en-US" sz="2600" dirty="0">
                <a:latin typeface="Times New Roman" pitchFamily="18" charset="0"/>
                <a:cs typeface="Times New Roman" pitchFamily="18" charset="0"/>
              </a:rPr>
              <a:t>Architecture</a:t>
            </a:r>
          </a:p>
          <a:p>
            <a:r>
              <a:rPr lang="en-US" sz="2600" dirty="0">
                <a:latin typeface="Times New Roman" pitchFamily="18" charset="0"/>
                <a:cs typeface="Times New Roman" pitchFamily="18" charset="0"/>
              </a:rPr>
              <a:t>Technologies Used</a:t>
            </a:r>
          </a:p>
          <a:p>
            <a:r>
              <a:rPr lang="en-US" sz="2600" dirty="0">
                <a:latin typeface="Times New Roman" pitchFamily="18" charset="0"/>
                <a:cs typeface="Times New Roman" pitchFamily="18" charset="0"/>
              </a:rPr>
              <a:t>Requirements</a:t>
            </a:r>
          </a:p>
          <a:p>
            <a:r>
              <a:rPr lang="en-US" sz="2600" dirty="0">
                <a:latin typeface="Times New Roman" pitchFamily="18" charset="0"/>
                <a:cs typeface="Times New Roman" pitchFamily="18" charset="0"/>
              </a:rPr>
              <a:t>Algorithm</a:t>
            </a:r>
          </a:p>
          <a:p>
            <a:r>
              <a:rPr lang="en-US" sz="2600" dirty="0" smtClean="0">
                <a:latin typeface="Times New Roman" pitchFamily="18" charset="0"/>
                <a:cs typeface="Times New Roman" pitchFamily="18" charset="0"/>
              </a:rPr>
              <a:t>Application Workflow</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Execution Screenshots</a:t>
            </a:r>
          </a:p>
          <a:p>
            <a:r>
              <a:rPr lang="en-US" sz="2600" dirty="0" smtClean="0">
                <a:latin typeface="Times New Roman" pitchFamily="18" charset="0"/>
                <a:cs typeface="Times New Roman" pitchFamily="18" charset="0"/>
              </a:rPr>
              <a:t>Advantages</a:t>
            </a:r>
            <a:endParaRPr lang="en-US" sz="2600" dirty="0">
              <a:latin typeface="Times New Roman" pitchFamily="18" charset="0"/>
              <a:cs typeface="Times New Roman" pitchFamily="18" charset="0"/>
            </a:endParaRPr>
          </a:p>
          <a:p>
            <a:r>
              <a:rPr lang="en-US" sz="2600" dirty="0" smtClean="0">
                <a:latin typeface="Times New Roman" pitchFamily="18" charset="0"/>
                <a:cs typeface="Times New Roman" pitchFamily="18" charset="0"/>
              </a:rPr>
              <a:t>Conclusion</a:t>
            </a:r>
            <a:endParaRPr lang="en-US" sz="2600" dirty="0">
              <a:latin typeface="Times New Roman" pitchFamily="18" charset="0"/>
              <a:cs typeface="Times New Roman" pitchFamily="18" charset="0"/>
            </a:endParaRPr>
          </a:p>
          <a:p>
            <a:pPr>
              <a:lnSpc>
                <a:spcPct val="110000"/>
              </a:lnSpc>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ABSTRACT</a:t>
            </a:r>
          </a:p>
        </p:txBody>
      </p:sp>
      <p:sp>
        <p:nvSpPr>
          <p:cNvPr id="3" name="Content Placeholder 2"/>
          <p:cNvSpPr>
            <a:spLocks noGrp="1"/>
          </p:cNvSpPr>
          <p:nvPr>
            <p:ph idx="1"/>
          </p:nvPr>
        </p:nvSpPr>
        <p:spPr>
          <a:xfrm>
            <a:off x="838200" y="1729409"/>
            <a:ext cx="10515600" cy="4447554"/>
          </a:xfrm>
        </p:spPr>
        <p:txBody>
          <a:bodyPr>
            <a:normAutofit/>
          </a:bodyPr>
          <a:lstStyle/>
          <a:p>
            <a:r>
              <a:rPr lang="en-US" sz="1950" dirty="0"/>
              <a:t>The Contact Book Application is a command-line based project developed using Python to manage contact information efficiently. It allows users to store contact details such as names and phone numbers in a text file, ensuring that the data is saved permanently. The application provides a simple menu-driven interface for adding, viewing, and searching contacts</a:t>
            </a:r>
            <a:r>
              <a:rPr lang="en-US" sz="1950" dirty="0" smtClean="0"/>
              <a:t>.</a:t>
            </a:r>
            <a:endParaRPr lang="en-US" sz="1950" b="1" dirty="0"/>
          </a:p>
          <a:p>
            <a:r>
              <a:rPr lang="en-US" sz="1950" dirty="0"/>
              <a:t>The application uses file handling to store and retrieve contact information. Users can add new contacts, view all saved contacts, and search for a specific contact by name. Loops are used to continuously display the menu until the user chooses to exit, while conditional statements help perform different operations based on the selected option</a:t>
            </a:r>
            <a:r>
              <a:rPr lang="en-US" sz="1950" dirty="0" smtClean="0"/>
              <a:t>.</a:t>
            </a:r>
            <a:endParaRPr lang="en-US" sz="1950" b="1" dirty="0"/>
          </a:p>
          <a:p>
            <a:r>
              <a:rPr lang="en-US" sz="1950" dirty="0"/>
              <a:t>This project demonstrates core Python concepts such as variables, loops, conditional statements, file handling, and exception handling. It shows how data can be stored, retrieved, and managed efficiently while handling possible errors. Overall, the Contact Book Application is a beginner-friendly project that helps in understanding the practical implementation of Python programming concepts.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6500"/>
            <a:ext cx="10515600" cy="992037"/>
          </a:xfrm>
        </p:spPr>
        <p:txBody>
          <a:bodyPr/>
          <a:lstStyle/>
          <a:p>
            <a:pPr algn="ctr"/>
            <a:r>
              <a:rPr lang="en-US" dirty="0" smtClean="0"/>
              <a:t> PROBLEM STATEMENT</a:t>
            </a:r>
            <a:endParaRPr lang="en-US" dirty="0"/>
          </a:p>
        </p:txBody>
      </p:sp>
      <p:sp>
        <p:nvSpPr>
          <p:cNvPr id="3" name="Content Placeholder 2"/>
          <p:cNvSpPr>
            <a:spLocks noGrp="1"/>
          </p:cNvSpPr>
          <p:nvPr>
            <p:ph idx="1"/>
          </p:nvPr>
        </p:nvSpPr>
        <p:spPr>
          <a:xfrm>
            <a:off x="838200" y="1517625"/>
            <a:ext cx="10515600" cy="3574138"/>
          </a:xfrm>
        </p:spPr>
        <p:txBody>
          <a:bodyPr>
            <a:noAutofit/>
          </a:bodyPr>
          <a:lstStyle/>
          <a:p>
            <a:pPr marL="0" indent="0">
              <a:buNone/>
            </a:pPr>
            <a:r>
              <a:rPr lang="en-US" sz="2200" b="1" dirty="0">
                <a:latin typeface="Times New Roman" pitchFamily="18" charset="0"/>
                <a:cs typeface="Times New Roman" pitchFamily="18" charset="0"/>
              </a:rPr>
              <a:t> </a:t>
            </a:r>
            <a:r>
              <a:rPr lang="en-US" sz="2200" b="1"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Managing </a:t>
            </a:r>
            <a:r>
              <a:rPr lang="en-US" sz="2200" dirty="0">
                <a:latin typeface="Times New Roman" pitchFamily="18" charset="0"/>
                <a:cs typeface="Times New Roman" pitchFamily="18" charset="0"/>
              </a:rPr>
              <a:t>contact information manually in notebooks, diaries, or paper records requires significant effort. Users must search through multiple pages to find a specific contact, which can be slow and inconvenient. As the number of contacts increases, maintaining and updating records becomes more difficult and less organized.</a:t>
            </a:r>
          </a:p>
          <a:p>
            <a:r>
              <a:rPr lang="en-US" sz="2200" dirty="0" smtClean="0">
                <a:latin typeface="Times New Roman" pitchFamily="18" charset="0"/>
                <a:cs typeface="Times New Roman" pitchFamily="18" charset="0"/>
              </a:rPr>
              <a:t>Traditional </a:t>
            </a:r>
            <a:r>
              <a:rPr lang="en-US" sz="2200" dirty="0">
                <a:latin typeface="Times New Roman" pitchFamily="18" charset="0"/>
                <a:cs typeface="Times New Roman" pitchFamily="18" charset="0"/>
              </a:rPr>
              <a:t>methods of storing contact details are vulnerable to damage, loss, or misplacement. Important information may be lost if notebooks are misplaced or records are not maintained properly. This can create difficulties in accessing important contact details when they are needed.</a:t>
            </a:r>
          </a:p>
          <a:p>
            <a:r>
              <a:rPr lang="en-US" sz="2200" dirty="0" smtClean="0">
                <a:latin typeface="Times New Roman" pitchFamily="18" charset="0"/>
                <a:cs typeface="Times New Roman" pitchFamily="18" charset="0"/>
              </a:rPr>
              <a:t>Finding </a:t>
            </a:r>
            <a:r>
              <a:rPr lang="en-US" sz="2200" dirty="0">
                <a:latin typeface="Times New Roman" pitchFamily="18" charset="0"/>
                <a:cs typeface="Times New Roman" pitchFamily="18" charset="0"/>
              </a:rPr>
              <a:t>a particular contact from a large collection of records can take considerable time. Updating phone numbers or other details manually may also lead to errors and inconsistencies. Therefore, there is a need for a digital system that can store and manage contact information more efficiently.</a:t>
            </a:r>
          </a:p>
          <a:p>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30194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normAutofit/>
          </a:bodyPr>
          <a:lstStyle/>
          <a:p>
            <a:pPr algn="ctr"/>
            <a:r>
              <a:rPr lang="en-US" sz="3600" dirty="0" smtClean="0"/>
              <a:t>OBJECTIVE</a:t>
            </a:r>
            <a:endParaRPr lang="en-US" sz="3600" dirty="0"/>
          </a:p>
        </p:txBody>
      </p:sp>
      <p:sp>
        <p:nvSpPr>
          <p:cNvPr id="3" name="Content Placeholder 2"/>
          <p:cNvSpPr>
            <a:spLocks noGrp="1"/>
          </p:cNvSpPr>
          <p:nvPr>
            <p:ph idx="1"/>
          </p:nvPr>
        </p:nvSpPr>
        <p:spPr>
          <a:xfrm>
            <a:off x="838200" y="1241659"/>
            <a:ext cx="10515600" cy="4540679"/>
          </a:xfrm>
        </p:spPr>
        <p:txBody>
          <a:bodyPr>
            <a:noAutofit/>
          </a:bodyPr>
          <a:lstStyle/>
          <a:p>
            <a:r>
              <a:rPr lang="en-US" sz="2250" dirty="0">
                <a:latin typeface="Times New Roman" pitchFamily="18" charset="0"/>
                <a:cs typeface="Times New Roman" pitchFamily="18" charset="0"/>
              </a:rPr>
              <a:t>The application is designed to save contact information in a text file, ensuring that data remains available even after the program is closed. This permanent storage mechanism helps prevent data loss and allows users to access their contacts whenever needed</a:t>
            </a:r>
            <a:r>
              <a:rPr lang="en-US" sz="2250" dirty="0" smtClean="0">
                <a:latin typeface="Times New Roman" pitchFamily="18" charset="0"/>
                <a:cs typeface="Times New Roman" pitchFamily="18" charset="0"/>
              </a:rPr>
              <a:t>.</a:t>
            </a:r>
            <a:endParaRPr lang="en-US" sz="2250" b="1" dirty="0" smtClean="0">
              <a:latin typeface="Times New Roman" pitchFamily="18" charset="0"/>
              <a:cs typeface="Times New Roman" pitchFamily="18" charset="0"/>
            </a:endParaRPr>
          </a:p>
          <a:p>
            <a:r>
              <a:rPr lang="en-US" sz="2250" dirty="0" smtClean="0">
                <a:latin typeface="Times New Roman" pitchFamily="18" charset="0"/>
                <a:cs typeface="Times New Roman" pitchFamily="18" charset="0"/>
              </a:rPr>
              <a:t>The </a:t>
            </a:r>
            <a:r>
              <a:rPr lang="en-US" sz="2250" dirty="0">
                <a:latin typeface="Times New Roman" pitchFamily="18" charset="0"/>
                <a:cs typeface="Times New Roman" pitchFamily="18" charset="0"/>
              </a:rPr>
              <a:t>system enables users to display all stored contacts in an organized manner. This feature allows quick access to previously saved information without the need to search through physical records or files manually</a:t>
            </a:r>
            <a:r>
              <a:rPr lang="en-US" sz="2250" dirty="0" smtClean="0">
                <a:latin typeface="Times New Roman" pitchFamily="18" charset="0"/>
                <a:cs typeface="Times New Roman" pitchFamily="18" charset="0"/>
              </a:rPr>
              <a:t>.</a:t>
            </a:r>
            <a:endParaRPr lang="en-US" sz="2250" b="1" dirty="0" smtClean="0">
              <a:latin typeface="Times New Roman" pitchFamily="18" charset="0"/>
              <a:cs typeface="Times New Roman" pitchFamily="18" charset="0"/>
            </a:endParaRPr>
          </a:p>
          <a:p>
            <a:r>
              <a:rPr lang="en-US" sz="2250" dirty="0" smtClean="0">
                <a:latin typeface="Times New Roman" pitchFamily="18" charset="0"/>
                <a:cs typeface="Times New Roman" pitchFamily="18" charset="0"/>
              </a:rPr>
              <a:t>The </a:t>
            </a:r>
            <a:r>
              <a:rPr lang="en-US" sz="2250" dirty="0">
                <a:latin typeface="Times New Roman" pitchFamily="18" charset="0"/>
                <a:cs typeface="Times New Roman" pitchFamily="18" charset="0"/>
              </a:rPr>
              <a:t>application provides a search feature that helps users locate specific contacts by entering a name. This reduces the time required to find contact information and improves the overall efficiency of contact management</a:t>
            </a:r>
            <a:r>
              <a:rPr lang="en-US" sz="2250" dirty="0" smtClean="0">
                <a:latin typeface="Times New Roman" pitchFamily="18" charset="0"/>
                <a:cs typeface="Times New Roman" pitchFamily="18" charset="0"/>
              </a:rPr>
              <a:t>.</a:t>
            </a:r>
          </a:p>
          <a:p>
            <a:r>
              <a:rPr lang="en-US" sz="2250" dirty="0" smtClean="0">
                <a:latin typeface="Times New Roman" pitchFamily="18" charset="0"/>
                <a:cs typeface="Times New Roman" pitchFamily="18" charset="0"/>
              </a:rPr>
              <a:t>The </a:t>
            </a:r>
            <a:r>
              <a:rPr lang="en-US" sz="2250" dirty="0">
                <a:latin typeface="Times New Roman" pitchFamily="18" charset="0"/>
                <a:cs typeface="Times New Roman" pitchFamily="18" charset="0"/>
              </a:rPr>
              <a:t>project aims to offer a simple menu-driven interface that is easy to understand and operate. By simplifying contact storage, retrieval, and searching, the application provides an effective solution for managing personal and professional contact information.</a:t>
            </a:r>
          </a:p>
        </p:txBody>
      </p:sp>
    </p:spTree>
    <p:extLst>
      <p:ext uri="{BB962C8B-B14F-4D97-AF65-F5344CB8AC3E}">
        <p14:creationId xmlns:p14="http://schemas.microsoft.com/office/powerpoint/2010/main" val="3826870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627755" y="477520"/>
            <a:ext cx="4747260" cy="768350"/>
          </a:xfrm>
          <a:prstGeom prst="rect">
            <a:avLst/>
          </a:prstGeom>
          <a:noFill/>
        </p:spPr>
        <p:txBody>
          <a:bodyPr wrap="square" rtlCol="0">
            <a:spAutoFit/>
          </a:bodyPr>
          <a:lstStyle/>
          <a:p>
            <a:pPr algn="ctr"/>
            <a:r>
              <a:rPr lang="en-US" sz="4400">
                <a:latin typeface="Times New Roman" panose="02020603050405020304" charset="0"/>
                <a:cs typeface="Times New Roman" panose="02020603050405020304" charset="0"/>
              </a:rPr>
              <a:t>INTRODUCTION</a:t>
            </a:r>
          </a:p>
        </p:txBody>
      </p:sp>
      <p:sp>
        <p:nvSpPr>
          <p:cNvPr id="3" name="Text Box 2"/>
          <p:cNvSpPr txBox="1"/>
          <p:nvPr/>
        </p:nvSpPr>
        <p:spPr>
          <a:xfrm>
            <a:off x="680720" y="1468120"/>
            <a:ext cx="11124565" cy="3477875"/>
          </a:xfrm>
          <a:prstGeom prst="rect">
            <a:avLst/>
          </a:prstGeom>
          <a:noFill/>
        </p:spPr>
        <p:txBody>
          <a:bodyPr wrap="square" rtlCol="0">
            <a:spAutoFit/>
          </a:bodyPr>
          <a:lstStyle/>
          <a:p>
            <a:r>
              <a:rPr lang="en-US" sz="2000" dirty="0"/>
              <a:t>Managing contact information manually can be difficult and time-consuming. The </a:t>
            </a:r>
            <a:r>
              <a:rPr lang="en-US" sz="2000" b="1" dirty="0"/>
              <a:t>Contact Book Application</a:t>
            </a:r>
            <a:r>
              <a:rPr lang="en-US" sz="2000" dirty="0"/>
              <a:t> is a Python-based command-line program that provides a simple and efficient solution for storing and managing contact details.</a:t>
            </a:r>
          </a:p>
          <a:p>
            <a:r>
              <a:rPr lang="en-US" sz="2000" dirty="0"/>
              <a:t>The application allows users to</a:t>
            </a:r>
            <a:r>
              <a:rPr lang="en-US" sz="2000" dirty="0" smtClean="0"/>
              <a:t>:</a:t>
            </a:r>
          </a:p>
          <a:p>
            <a:pPr marL="342900" indent="-342900">
              <a:buFont typeface="Wingdings" pitchFamily="2" charset="2"/>
              <a:buChar char="§"/>
            </a:pPr>
            <a:r>
              <a:rPr lang="en-US" sz="2000" dirty="0" smtClean="0"/>
              <a:t>Add New Contacts</a:t>
            </a:r>
          </a:p>
          <a:p>
            <a:pPr marL="342900" indent="-342900">
              <a:buFont typeface="Wingdings" pitchFamily="2" charset="2"/>
              <a:buChar char="§"/>
            </a:pPr>
            <a:r>
              <a:rPr lang="en-US" sz="2000" dirty="0" smtClean="0"/>
              <a:t>View all Contacts</a:t>
            </a:r>
          </a:p>
          <a:p>
            <a:pPr marL="342900" indent="-342900">
              <a:buFont typeface="Wingdings" pitchFamily="2" charset="2"/>
              <a:buChar char="§"/>
            </a:pPr>
            <a:r>
              <a:rPr lang="en-US" sz="2000" dirty="0" smtClean="0"/>
              <a:t>Search Contacts by Name</a:t>
            </a:r>
          </a:p>
          <a:p>
            <a:pPr marL="342900" indent="-342900">
              <a:buFont typeface="Wingdings" pitchFamily="2" charset="2"/>
              <a:buChar char="§"/>
            </a:pPr>
            <a:r>
              <a:rPr lang="en-US" sz="2000" dirty="0" smtClean="0"/>
              <a:t>Search Contact Details Permanently in a Text File. </a:t>
            </a:r>
            <a:endParaRPr lang="en-US" sz="2000" dirty="0"/>
          </a:p>
          <a:p>
            <a:r>
              <a:rPr lang="en-US" sz="2000" dirty="0"/>
              <a:t>The system is lightweight, user-friendly, and suitable for beginners learning Python programming. It demonstrates fundamental Python concepts such as file handling, loops, conditional statements, and exception handling while providing an effective </a:t>
            </a:r>
            <a:r>
              <a:rPr lang="en-US" sz="2000" dirty="0" smtClean="0"/>
              <a:t>contact.</a:t>
            </a:r>
            <a:endParaRPr 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296920" y="640080"/>
            <a:ext cx="5313680" cy="600164"/>
          </a:xfrm>
          <a:prstGeom prst="rect">
            <a:avLst/>
          </a:prstGeom>
          <a:noFill/>
        </p:spPr>
        <p:txBody>
          <a:bodyPr wrap="square" rtlCol="0">
            <a:spAutoFit/>
          </a:bodyPr>
          <a:lstStyle/>
          <a:p>
            <a:r>
              <a:rPr lang="en-US" sz="3300" dirty="0" smtClean="0">
                <a:latin typeface="Times New Roman" panose="02020603050405020304" charset="0"/>
                <a:cs typeface="Times New Roman" panose="02020603050405020304" charset="0"/>
              </a:rPr>
              <a:t>SYSTEM ARCHITECTURE</a:t>
            </a:r>
            <a:endParaRPr lang="en-US" sz="3300" dirty="0">
              <a:latin typeface="Times New Roman" panose="02020603050405020304" charset="0"/>
              <a:cs typeface="Times New Roman" panose="02020603050405020304" charset="0"/>
            </a:endParaRPr>
          </a:p>
        </p:txBody>
      </p:sp>
      <p:sp>
        <p:nvSpPr>
          <p:cNvPr id="6" name="Rectangle 5"/>
          <p:cNvSpPr/>
          <p:nvPr/>
        </p:nvSpPr>
        <p:spPr>
          <a:xfrm>
            <a:off x="2991677" y="1408431"/>
            <a:ext cx="4880113" cy="5047536"/>
          </a:xfrm>
          <a:prstGeom prst="rect">
            <a:avLst/>
          </a:prstGeom>
        </p:spPr>
        <p:txBody>
          <a:bodyPr wrap="square">
            <a:spAutoFit/>
          </a:bodyPr>
          <a:lstStyle/>
          <a:p>
            <a:pPr algn="ctr"/>
            <a:r>
              <a:rPr lang="en-US" sz="1400" dirty="0" smtClean="0"/>
              <a:t> +----------------+</a:t>
            </a:r>
          </a:p>
          <a:p>
            <a:pPr algn="ctr"/>
            <a:r>
              <a:rPr lang="en-US" sz="1400" dirty="0" smtClean="0"/>
              <a:t>                |     USER       |</a:t>
            </a:r>
          </a:p>
          <a:p>
            <a:pPr algn="ctr"/>
            <a:r>
              <a:rPr lang="en-US" sz="1400" dirty="0" smtClean="0"/>
              <a:t>                +--------+-------+</a:t>
            </a:r>
          </a:p>
          <a:p>
            <a:pPr algn="ctr"/>
            <a:r>
              <a:rPr lang="en-US" sz="1400" dirty="0" smtClean="0"/>
              <a:t>                         |</a:t>
            </a:r>
          </a:p>
          <a:p>
            <a:pPr algn="ctr"/>
            <a:r>
              <a:rPr lang="en-US" sz="1400" dirty="0" smtClean="0"/>
              <a:t>                         v</a:t>
            </a:r>
          </a:p>
          <a:p>
            <a:pPr algn="ctr"/>
            <a:r>
              <a:rPr lang="en-US" sz="1400" dirty="0" smtClean="0"/>
              <a:t>              +-------------------+</a:t>
            </a:r>
          </a:p>
          <a:p>
            <a:pPr algn="ctr"/>
            <a:r>
              <a:rPr lang="en-US" sz="1400" dirty="0" smtClean="0"/>
              <a:t>              | Contact Book Menu |</a:t>
            </a:r>
          </a:p>
          <a:p>
            <a:pPr algn="ctr"/>
            <a:r>
              <a:rPr lang="en-US" sz="1400" dirty="0" smtClean="0"/>
              <a:t>              +-------------------+</a:t>
            </a:r>
          </a:p>
          <a:p>
            <a:pPr algn="ctr"/>
            <a:r>
              <a:rPr lang="en-US" sz="1400" dirty="0" smtClean="0"/>
              <a:t>                         |</a:t>
            </a:r>
          </a:p>
          <a:p>
            <a:pPr algn="ctr"/>
            <a:r>
              <a:rPr lang="en-US" sz="1400" dirty="0" smtClean="0"/>
              <a:t>      +------------------+------------------+</a:t>
            </a:r>
          </a:p>
          <a:p>
            <a:pPr algn="ctr"/>
            <a:r>
              <a:rPr lang="en-US" sz="1400" dirty="0" smtClean="0"/>
              <a:t>      |                  |                  |</a:t>
            </a:r>
          </a:p>
          <a:p>
            <a:pPr algn="ctr"/>
            <a:r>
              <a:rPr lang="en-US" sz="1400" dirty="0" smtClean="0"/>
              <a:t>      v                  </a:t>
            </a:r>
            <a:r>
              <a:rPr lang="en-US" sz="1400" dirty="0" err="1" smtClean="0"/>
              <a:t>v</a:t>
            </a:r>
            <a:r>
              <a:rPr lang="en-US" sz="1400" dirty="0" smtClean="0"/>
              <a:t>                  </a:t>
            </a:r>
            <a:r>
              <a:rPr lang="en-US" sz="1400" dirty="0" err="1" smtClean="0"/>
              <a:t>v</a:t>
            </a:r>
            <a:endParaRPr lang="en-US" sz="1400" dirty="0" smtClean="0"/>
          </a:p>
          <a:p>
            <a:pPr algn="ctr"/>
            <a:r>
              <a:rPr lang="en-US" sz="1400" dirty="0" smtClean="0"/>
              <a:t>+-----------+     +------------+    +------------+</a:t>
            </a:r>
          </a:p>
          <a:p>
            <a:pPr algn="ctr"/>
            <a:r>
              <a:rPr lang="en-US" sz="1400" dirty="0" smtClean="0"/>
              <a:t>| Add       |     | View       |    | Search     |</a:t>
            </a:r>
          </a:p>
          <a:p>
            <a:pPr algn="ctr"/>
            <a:r>
              <a:rPr lang="en-US" sz="1400" dirty="0" smtClean="0"/>
              <a:t>| Contact   |     | Contacts   |    | Contact    |</a:t>
            </a:r>
          </a:p>
          <a:p>
            <a:pPr algn="ctr"/>
            <a:r>
              <a:rPr lang="en-US" sz="1400" dirty="0" smtClean="0"/>
              <a:t>+-----------+     +------------+    +------------+</a:t>
            </a:r>
          </a:p>
          <a:p>
            <a:pPr algn="ctr"/>
            <a:r>
              <a:rPr lang="en-US" sz="1400" dirty="0" smtClean="0"/>
              <a:t>      |                  |                  |</a:t>
            </a:r>
          </a:p>
          <a:p>
            <a:pPr algn="ctr"/>
            <a:r>
              <a:rPr lang="en-US" sz="1400" dirty="0" smtClean="0"/>
              <a:t>      +------------------+------------------+</a:t>
            </a:r>
          </a:p>
          <a:p>
            <a:pPr algn="ctr"/>
            <a:r>
              <a:rPr lang="en-US" sz="1400" dirty="0" smtClean="0"/>
              <a:t>                         |</a:t>
            </a:r>
          </a:p>
          <a:p>
            <a:pPr algn="ctr"/>
            <a:r>
              <a:rPr lang="en-US" sz="1400" dirty="0" smtClean="0"/>
              <a:t>                         v</a:t>
            </a:r>
          </a:p>
          <a:p>
            <a:pPr algn="ctr"/>
            <a:r>
              <a:rPr lang="en-US" sz="1400" dirty="0" smtClean="0"/>
              <a:t>                +----------------+</a:t>
            </a:r>
          </a:p>
          <a:p>
            <a:pPr algn="ctr"/>
            <a:r>
              <a:rPr lang="en-US" sz="1400" dirty="0" smtClean="0"/>
              <a:t>                | contacts.txt   |</a:t>
            </a:r>
          </a:p>
          <a:p>
            <a:pPr algn="ctr"/>
            <a:r>
              <a:rPr lang="en-US" sz="1400" dirty="0" smtClean="0"/>
              <a:t>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318084" y="843280"/>
            <a:ext cx="7267074" cy="768350"/>
          </a:xfrm>
          <a:prstGeom prst="rect">
            <a:avLst/>
          </a:prstGeom>
          <a:noFill/>
        </p:spPr>
        <p:txBody>
          <a:bodyPr wrap="square" rtlCol="0">
            <a:spAutoFit/>
          </a:bodyPr>
          <a:lstStyle/>
          <a:p>
            <a:pPr algn="ctr"/>
            <a:r>
              <a:rPr lang="en-US" sz="4400" dirty="0" smtClean="0">
                <a:latin typeface="Times New Roman" panose="02020603050405020304" charset="0"/>
                <a:cs typeface="Times New Roman" panose="02020603050405020304" charset="0"/>
              </a:rPr>
              <a:t>TECHNOLOGIES USED</a:t>
            </a:r>
            <a:endParaRPr lang="en-US" sz="4400" dirty="0">
              <a:latin typeface="Times New Roman" panose="02020603050405020304" charset="0"/>
              <a:cs typeface="Times New Roman" panose="02020603050405020304" charset="0"/>
            </a:endParaRPr>
          </a:p>
        </p:txBody>
      </p:sp>
      <p:sp>
        <p:nvSpPr>
          <p:cNvPr id="4" name="Text Box 3"/>
          <p:cNvSpPr txBox="1"/>
          <p:nvPr/>
        </p:nvSpPr>
        <p:spPr>
          <a:xfrm>
            <a:off x="1087119" y="1969435"/>
            <a:ext cx="8337617" cy="461665"/>
          </a:xfrm>
          <a:prstGeom prst="rect">
            <a:avLst/>
          </a:prstGeom>
          <a:noFill/>
        </p:spPr>
        <p:txBody>
          <a:bodyPr wrap="square" rtlCol="0">
            <a:spAutoFit/>
          </a:bodyPr>
          <a:lstStyle/>
          <a:p>
            <a:r>
              <a:rPr lang="en-US" sz="2400" b="1" dirty="0" smtClean="0"/>
              <a:t>SOFT WARE , STORAGE, OPERATING SYSTEM</a:t>
            </a:r>
            <a:endParaRPr lang="en-US" sz="2400" b="1" dirty="0"/>
          </a:p>
        </p:txBody>
      </p:sp>
      <p:sp>
        <p:nvSpPr>
          <p:cNvPr id="5" name="Text Box 4"/>
          <p:cNvSpPr txBox="1"/>
          <p:nvPr/>
        </p:nvSpPr>
        <p:spPr>
          <a:xfrm>
            <a:off x="1087120" y="2640929"/>
            <a:ext cx="10220960" cy="1323439"/>
          </a:xfrm>
          <a:prstGeom prst="rect">
            <a:avLst/>
          </a:prstGeom>
          <a:noFill/>
        </p:spPr>
        <p:txBody>
          <a:bodyPr wrap="square" rtlCol="0">
            <a:spAutoFit/>
          </a:bodyPr>
          <a:lstStyle/>
          <a:p>
            <a:pPr marL="285750" indent="-285750" algn="just">
              <a:buFont typeface="Arial" panose="020B0604020202020204" pitchFamily="34" charset="0"/>
              <a:buChar char="•"/>
            </a:pPr>
            <a:r>
              <a:rPr lang="en-US" altLang="en-US" sz="2000" dirty="0" smtClean="0">
                <a:latin typeface="Times New Roman" panose="02020603050405020304" charset="0"/>
                <a:cs typeface="Times New Roman" panose="02020603050405020304" charset="0"/>
              </a:rPr>
              <a:t>Python 3.x</a:t>
            </a:r>
          </a:p>
          <a:p>
            <a:pPr marL="285750" indent="-285750" algn="just">
              <a:buFont typeface="Arial" panose="020B0604020202020204" pitchFamily="34" charset="0"/>
              <a:buChar char="•"/>
            </a:pPr>
            <a:r>
              <a:rPr lang="en-US" altLang="en-US" sz="2000" dirty="0" smtClean="0">
                <a:latin typeface="Times New Roman" panose="02020603050405020304" charset="0"/>
                <a:cs typeface="Times New Roman" panose="02020603050405020304" charset="0"/>
              </a:rPr>
              <a:t>PY Charm</a:t>
            </a:r>
            <a:r>
              <a:rPr lang="en-US" altLang="en-US" sz="2000" dirty="0" smtClean="0">
                <a:latin typeface="Times New Roman" panose="02020603050405020304" charset="0"/>
                <a:cs typeface="Times New Roman" panose="02020603050405020304" charset="0"/>
              </a:rPr>
              <a:t> / VS Code</a:t>
            </a:r>
          </a:p>
          <a:p>
            <a:pPr marL="285750" indent="-285750" algn="just">
              <a:buFont typeface="Arial" panose="020B0604020202020204" pitchFamily="34" charset="0"/>
              <a:buChar char="•"/>
            </a:pPr>
            <a:r>
              <a:rPr lang="en-US" altLang="en-US" sz="2000" dirty="0" smtClean="0">
                <a:latin typeface="Times New Roman" panose="02020603050405020304" charset="0"/>
                <a:cs typeface="Times New Roman" panose="02020603050405020304" charset="0"/>
              </a:rPr>
              <a:t>Text File(Contacts.txt)</a:t>
            </a:r>
          </a:p>
          <a:p>
            <a:pPr marL="285750" indent="-285750" algn="just">
              <a:buFont typeface="Arial" panose="020B0604020202020204" pitchFamily="34" charset="0"/>
              <a:buChar char="•"/>
            </a:pPr>
            <a:r>
              <a:rPr lang="en-US" altLang="en-US" sz="2000" dirty="0" smtClean="0">
                <a:latin typeface="Times New Roman" panose="02020603050405020304" charset="0"/>
                <a:cs typeface="Times New Roman" panose="02020603050405020304" charset="0"/>
              </a:rPr>
              <a:t>Windows10 / Windows 11</a:t>
            </a:r>
            <a:endParaRPr lang="en-US" altLang="en-US" sz="2000" dirty="0">
              <a:latin typeface="Times New Roman" panose="02020603050405020304" charset="0"/>
              <a:cs typeface="Times New Roman" panose="02020603050405020304" charset="0"/>
            </a:endParaRPr>
          </a:p>
        </p:txBody>
      </p:sp>
      <p:sp>
        <p:nvSpPr>
          <p:cNvPr id="12" name="Rectangle 11"/>
          <p:cNvSpPr/>
          <p:nvPr/>
        </p:nvSpPr>
        <p:spPr>
          <a:xfrm>
            <a:off x="3048000" y="3105835"/>
            <a:ext cx="6096000" cy="369332"/>
          </a:xfrm>
          <a:prstGeom prst="rect">
            <a:avLst/>
          </a:prstGeom>
        </p:spPr>
        <p:txBody>
          <a:bodyPr>
            <a:spAutoFit/>
          </a:bodyPr>
          <a:lstStyle/>
          <a:p>
            <a:pPr marL="285750" indent="-285750" algn="just">
              <a:buFont typeface="Arial" panose="020B0604020202020204" pitchFamily="34" charset="0"/>
              <a:buChar char="•"/>
            </a:pPr>
            <a:endParaRPr lang="en-US" altLang="en-US"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28215" y="371475"/>
            <a:ext cx="7887970" cy="646331"/>
          </a:xfrm>
          <a:prstGeom prst="rect">
            <a:avLst/>
          </a:prstGeom>
          <a:noFill/>
        </p:spPr>
        <p:txBody>
          <a:bodyPr wrap="square" rtlCol="0">
            <a:spAutoFit/>
          </a:bodyPr>
          <a:lstStyle/>
          <a:p>
            <a:pPr algn="ctr"/>
            <a:r>
              <a:rPr lang="en-US" sz="3600" dirty="0" smtClean="0">
                <a:latin typeface="Times New Roman" panose="02020603050405020304" charset="0"/>
                <a:cs typeface="Times New Roman" panose="02020603050405020304" charset="0"/>
              </a:rPr>
              <a:t>FUNCTIONAL REQUIREMENTS</a:t>
            </a:r>
            <a:endParaRPr lang="en-US" sz="3600" dirty="0">
              <a:latin typeface="Times New Roman" panose="02020603050405020304" charset="0"/>
              <a:cs typeface="Times New Roman" panose="02020603050405020304" charset="0"/>
            </a:endParaRPr>
          </a:p>
        </p:txBody>
      </p:sp>
      <p:sp>
        <p:nvSpPr>
          <p:cNvPr id="6" name="Text Box 5"/>
          <p:cNvSpPr txBox="1"/>
          <p:nvPr/>
        </p:nvSpPr>
        <p:spPr>
          <a:xfrm>
            <a:off x="9890760" y="2167890"/>
            <a:ext cx="4064000" cy="645160"/>
          </a:xfrm>
          <a:prstGeom prst="rect">
            <a:avLst/>
          </a:prstGeom>
          <a:noFill/>
        </p:spPr>
        <p:txBody>
          <a:bodyPr wrap="square" rtlCol="0">
            <a:spAutoFit/>
          </a:bodyPr>
          <a:lstStyle/>
          <a:p>
            <a:endParaRPr lang="en-US"/>
          </a:p>
          <a:p>
            <a:endParaRPr lang="en-US"/>
          </a:p>
        </p:txBody>
      </p:sp>
      <p:sp>
        <p:nvSpPr>
          <p:cNvPr id="7" name="Subtitle 2"/>
          <p:cNvSpPr txBox="1">
            <a:spLocks/>
          </p:cNvSpPr>
          <p:nvPr/>
        </p:nvSpPr>
        <p:spPr>
          <a:xfrm>
            <a:off x="228600" y="1255157"/>
            <a:ext cx="11263184" cy="479554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smtClean="0"/>
              <a:t>User Functions</a:t>
            </a:r>
          </a:p>
          <a:p>
            <a:pPr marL="0" indent="0">
              <a:buNone/>
            </a:pPr>
            <a:r>
              <a:rPr lang="en-US" sz="3400" b="1" dirty="0" smtClean="0"/>
              <a:t>  </a:t>
            </a:r>
            <a:r>
              <a:rPr lang="en-US" sz="2000" b="1" dirty="0" smtClean="0"/>
              <a:t>1. Add Contact</a:t>
            </a:r>
          </a:p>
          <a:p>
            <a:pPr marL="0" indent="0">
              <a:buNone/>
            </a:pPr>
            <a:r>
              <a:rPr lang="en-US" sz="2000" b="1" dirty="0" smtClean="0"/>
              <a:t>	</a:t>
            </a:r>
            <a:r>
              <a:rPr lang="en-US" sz="1600" b="1" dirty="0" smtClean="0"/>
              <a:t>This Function allows the user to add a new contact by entering details such as the contact name and phone number. The entered information is stored in a text file, ensuring that the contact details are saved permanently for future also.</a:t>
            </a:r>
          </a:p>
          <a:p>
            <a:pPr marL="0" indent="0">
              <a:buNone/>
            </a:pPr>
            <a:r>
              <a:rPr lang="en-US" sz="2000" b="1" dirty="0"/>
              <a:t> </a:t>
            </a:r>
            <a:r>
              <a:rPr lang="en-US" sz="2000" b="1" dirty="0" smtClean="0"/>
              <a:t>  2. View Contact List</a:t>
            </a:r>
          </a:p>
          <a:p>
            <a:pPr marL="0" indent="0" algn="just">
              <a:buNone/>
            </a:pPr>
            <a:r>
              <a:rPr lang="en-US" sz="2000" b="1" dirty="0" smtClean="0"/>
              <a:t>	</a:t>
            </a:r>
            <a:r>
              <a:rPr lang="en-US" sz="1600" b="1" dirty="0" smtClean="0"/>
              <a:t>This </a:t>
            </a:r>
            <a:r>
              <a:rPr lang="en-US" sz="1600" b="1" dirty="0"/>
              <a:t>Function </a:t>
            </a:r>
            <a:r>
              <a:rPr lang="en-US" sz="1600" b="1" dirty="0" smtClean="0"/>
              <a:t>displays all the contacts stored I the application. It reads the contact details from the text file and presents them in an organized format, allowing users to view all saved contacts easily.</a:t>
            </a:r>
          </a:p>
          <a:p>
            <a:pPr marL="0" indent="0">
              <a:buNone/>
            </a:pPr>
            <a:r>
              <a:rPr lang="en-US" sz="2000" b="1" dirty="0" smtClean="0"/>
              <a:t>   3. Search Contact</a:t>
            </a:r>
          </a:p>
          <a:p>
            <a:pPr marL="0" indent="0" algn="just">
              <a:buNone/>
            </a:pPr>
            <a:r>
              <a:rPr lang="en-US" sz="2000" b="1" dirty="0"/>
              <a:t>	</a:t>
            </a:r>
            <a:r>
              <a:rPr lang="en-US" sz="1600" b="1" dirty="0" smtClean="0"/>
              <a:t>This function enables users to find a specific contact by entering the contact name. The application searches through the stored records and displays the matching contact details if found.</a:t>
            </a:r>
          </a:p>
          <a:p>
            <a:pPr marL="0" indent="0">
              <a:buNone/>
            </a:pPr>
            <a:r>
              <a:rPr lang="en-US" sz="2000" b="1" dirty="0" smtClean="0"/>
              <a:t>   4. Exit Application</a:t>
            </a:r>
          </a:p>
          <a:p>
            <a:pPr marL="0" indent="0" algn="just">
              <a:buNone/>
            </a:pPr>
            <a:r>
              <a:rPr lang="en-US" sz="1700" b="1" dirty="0" smtClean="0"/>
              <a:t>	This </a:t>
            </a:r>
            <a:r>
              <a:rPr lang="en-US" sz="1700" b="1" dirty="0"/>
              <a:t>function </a:t>
            </a:r>
            <a:r>
              <a:rPr lang="en-US" sz="1700" b="1" dirty="0" smtClean="0"/>
              <a:t>allows </a:t>
            </a:r>
            <a:r>
              <a:rPr lang="en-US" sz="1700" b="1" dirty="0"/>
              <a:t>users to </a:t>
            </a:r>
            <a:r>
              <a:rPr lang="en-US" sz="1700" b="1" dirty="0" smtClean="0"/>
              <a:t>safely close the application. When selected, the program terminates and returns control to the Operating System while keeping all saved contact information intact.</a:t>
            </a:r>
            <a:r>
              <a:rPr lang="en-US" sz="2000" b="1" dirty="0"/>
              <a:t>	</a:t>
            </a:r>
          </a:p>
          <a:p>
            <a:pPr marL="0" indent="0">
              <a:buNone/>
            </a:pPr>
            <a:endParaRPr lang="en-US" sz="1600" b="1" dirty="0" smtClean="0"/>
          </a:p>
          <a:p>
            <a:pPr marL="0" indent="0">
              <a:buNone/>
            </a:pPr>
            <a:endParaRPr lang="en-US" sz="1600" b="1" dirty="0" smtClean="0"/>
          </a:p>
          <a:p>
            <a:pPr marL="0" indent="0">
              <a:buNone/>
            </a:pPr>
            <a:endParaRPr lang="en-US" sz="2000" b="1" dirty="0"/>
          </a:p>
          <a:p>
            <a:pPr marL="0" indent="0">
              <a:buNone/>
            </a:pPr>
            <a:endParaRPr lang="en-US" sz="2000" b="1" dirty="0" smtClean="0"/>
          </a:p>
          <a:p>
            <a:pPr marL="0" indent="0">
              <a:buNone/>
            </a:pPr>
            <a:endParaRPr lang="en-US" sz="3400" b="1" dirty="0" smtClean="0"/>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509520" y="455930"/>
            <a:ext cx="7173595" cy="615553"/>
          </a:xfrm>
          <a:prstGeom prst="rect">
            <a:avLst/>
          </a:prstGeom>
          <a:noFill/>
        </p:spPr>
        <p:txBody>
          <a:bodyPr wrap="square" rtlCol="0">
            <a:spAutoFit/>
          </a:bodyPr>
          <a:lstStyle/>
          <a:p>
            <a:pPr algn="ctr"/>
            <a:r>
              <a:rPr lang="en-US" sz="3400" dirty="0" smtClean="0">
                <a:latin typeface="Times New Roman" panose="02020603050405020304" charset="0"/>
                <a:cs typeface="Times New Roman" panose="02020603050405020304" charset="0"/>
              </a:rPr>
              <a:t>ALGORITHM</a:t>
            </a:r>
            <a:endParaRPr lang="en-US" sz="3400" dirty="0">
              <a:latin typeface="Times New Roman" panose="02020603050405020304" charset="0"/>
              <a:cs typeface="Times New Roman" panose="02020603050405020304" charset="0"/>
            </a:endParaRPr>
          </a:p>
        </p:txBody>
      </p:sp>
      <p:sp>
        <p:nvSpPr>
          <p:cNvPr id="3" name="Text Box 2"/>
          <p:cNvSpPr txBox="1"/>
          <p:nvPr/>
        </p:nvSpPr>
        <p:spPr>
          <a:xfrm>
            <a:off x="1193800" y="1363578"/>
            <a:ext cx="3434348" cy="5085347"/>
          </a:xfrm>
          <a:prstGeom prst="rect">
            <a:avLst/>
          </a:prstGeom>
          <a:noFill/>
        </p:spPr>
        <p:txBody>
          <a:bodyPr wrap="square" rtlCol="0">
            <a:noAutofit/>
          </a:bodyPr>
          <a:lstStyle/>
          <a:p>
            <a:r>
              <a:rPr lang="en-US" sz="1400" b="1" dirty="0"/>
              <a:t>ALGORITHM</a:t>
            </a:r>
          </a:p>
          <a:p>
            <a:r>
              <a:rPr lang="en-US" sz="1400" b="1" dirty="0" smtClean="0"/>
              <a:t>Step </a:t>
            </a:r>
            <a:r>
              <a:rPr lang="en-US" sz="1400" b="1" dirty="0"/>
              <a:t>1</a:t>
            </a:r>
          </a:p>
          <a:p>
            <a:r>
              <a:rPr lang="en-US" sz="1250" dirty="0"/>
              <a:t>Display menu options</a:t>
            </a:r>
            <a:r>
              <a:rPr lang="en-US" sz="1100" dirty="0" smtClean="0"/>
              <a:t>.</a:t>
            </a:r>
          </a:p>
          <a:p>
            <a:endParaRPr lang="en-US" sz="1100" dirty="0"/>
          </a:p>
          <a:p>
            <a:r>
              <a:rPr lang="en-US" sz="1400" b="1" dirty="0"/>
              <a:t>Step </a:t>
            </a:r>
            <a:r>
              <a:rPr lang="en-US" sz="1400" b="1" dirty="0" smtClean="0"/>
              <a:t>2</a:t>
            </a:r>
            <a:endParaRPr lang="en-US" sz="1400" b="1" dirty="0"/>
          </a:p>
          <a:p>
            <a:r>
              <a:rPr lang="en-US" sz="1250" dirty="0" smtClean="0"/>
              <a:t>Accept </a:t>
            </a:r>
            <a:r>
              <a:rPr lang="en-US" sz="1250" dirty="0"/>
              <a:t>user choice</a:t>
            </a:r>
            <a:r>
              <a:rPr lang="en-US" sz="1250" dirty="0" smtClean="0"/>
              <a:t>.</a:t>
            </a:r>
          </a:p>
          <a:p>
            <a:endParaRPr lang="en-US" sz="1100" dirty="0"/>
          </a:p>
          <a:p>
            <a:r>
              <a:rPr lang="en-US" sz="1400" b="1" dirty="0"/>
              <a:t>Step 3</a:t>
            </a:r>
          </a:p>
          <a:p>
            <a:r>
              <a:rPr lang="en-US" sz="1250" dirty="0"/>
              <a:t>If choice = 1</a:t>
            </a:r>
          </a:p>
          <a:p>
            <a:r>
              <a:rPr lang="en-US" sz="1250" dirty="0"/>
              <a:t>Add contact </a:t>
            </a:r>
          </a:p>
          <a:p>
            <a:r>
              <a:rPr lang="en-US" sz="1250" dirty="0"/>
              <a:t>Save to file </a:t>
            </a:r>
            <a:endParaRPr lang="en-US" sz="1250" dirty="0" smtClean="0"/>
          </a:p>
          <a:p>
            <a:endParaRPr lang="en-US" sz="1100" dirty="0"/>
          </a:p>
          <a:p>
            <a:r>
              <a:rPr lang="en-US" sz="1400" b="1" dirty="0"/>
              <a:t>Step 4</a:t>
            </a:r>
          </a:p>
          <a:p>
            <a:r>
              <a:rPr lang="en-US" sz="1250" dirty="0"/>
              <a:t>If choice = 2</a:t>
            </a:r>
          </a:p>
          <a:p>
            <a:r>
              <a:rPr lang="en-US" sz="1250" dirty="0"/>
              <a:t>Read file </a:t>
            </a:r>
          </a:p>
          <a:p>
            <a:r>
              <a:rPr lang="en-US" sz="1250" dirty="0"/>
              <a:t>Display </a:t>
            </a:r>
            <a:r>
              <a:rPr lang="en-US" sz="1250" dirty="0" smtClean="0"/>
              <a:t>contacts</a:t>
            </a:r>
          </a:p>
          <a:p>
            <a:r>
              <a:rPr lang="en-US" sz="1100" dirty="0" smtClean="0"/>
              <a:t> </a:t>
            </a:r>
            <a:endParaRPr lang="en-US" sz="1100" dirty="0"/>
          </a:p>
          <a:p>
            <a:r>
              <a:rPr lang="en-US" sz="1400" b="1" dirty="0"/>
              <a:t>Step 5</a:t>
            </a:r>
          </a:p>
          <a:p>
            <a:r>
              <a:rPr lang="en-US" sz="1250" dirty="0"/>
              <a:t>If choice = 3</a:t>
            </a:r>
          </a:p>
          <a:p>
            <a:r>
              <a:rPr lang="en-US" sz="1250" dirty="0"/>
              <a:t>Search contact </a:t>
            </a:r>
          </a:p>
          <a:p>
            <a:r>
              <a:rPr lang="en-US" sz="1250" dirty="0"/>
              <a:t>Display result </a:t>
            </a:r>
            <a:endParaRPr lang="en-US" sz="1250" dirty="0" smtClean="0"/>
          </a:p>
          <a:p>
            <a:endParaRPr lang="en-US" sz="1100" dirty="0"/>
          </a:p>
          <a:p>
            <a:r>
              <a:rPr lang="en-US" sz="1400" b="1" dirty="0"/>
              <a:t>Step 6</a:t>
            </a:r>
          </a:p>
          <a:p>
            <a:r>
              <a:rPr lang="en-US" sz="1250" dirty="0"/>
              <a:t>If choice = 4</a:t>
            </a:r>
          </a:p>
          <a:p>
            <a:r>
              <a:rPr lang="en-US" sz="1250" dirty="0"/>
              <a:t>Exit application</a:t>
            </a:r>
          </a:p>
          <a:p>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550160" y="355600"/>
            <a:ext cx="6593840" cy="707886"/>
          </a:xfrm>
          <a:prstGeom prst="rect">
            <a:avLst/>
          </a:prstGeom>
          <a:noFill/>
        </p:spPr>
        <p:txBody>
          <a:bodyPr wrap="square" rtlCol="0">
            <a:spAutoFit/>
          </a:bodyPr>
          <a:lstStyle/>
          <a:p>
            <a:pPr algn="ctr"/>
            <a:r>
              <a:rPr lang="en-US" sz="4000" dirty="0" smtClean="0">
                <a:latin typeface="Times New Roman" panose="02020603050405020304" charset="0"/>
                <a:cs typeface="Times New Roman" panose="02020603050405020304" charset="0"/>
              </a:rPr>
              <a:t>APPLICATION WORKFLOW</a:t>
            </a:r>
            <a:endParaRPr lang="en-US" sz="4000" dirty="0">
              <a:latin typeface="Times New Roman" panose="02020603050405020304" charset="0"/>
              <a:cs typeface="Times New Roman" panose="02020603050405020304" charset="0"/>
            </a:endParaRPr>
          </a:p>
        </p:txBody>
      </p:sp>
      <p:sp>
        <p:nvSpPr>
          <p:cNvPr id="6" name="Subtitle 2"/>
          <p:cNvSpPr txBox="1">
            <a:spLocks/>
          </p:cNvSpPr>
          <p:nvPr/>
        </p:nvSpPr>
        <p:spPr>
          <a:xfrm>
            <a:off x="838199" y="1363579"/>
            <a:ext cx="9837821" cy="4808621"/>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smtClean="0"/>
              <a:t>Add Contact</a:t>
            </a:r>
          </a:p>
          <a:p>
            <a:pPr marL="0" indent="0">
              <a:buNone/>
            </a:pPr>
            <a:r>
              <a:rPr lang="en-US" sz="2000" dirty="0" smtClean="0"/>
              <a:t> Stores contact information in the file.</a:t>
            </a:r>
          </a:p>
          <a:p>
            <a:pPr marL="0" indent="0">
              <a:buNone/>
            </a:pPr>
            <a:r>
              <a:rPr lang="en-US" sz="2000" dirty="0"/>
              <a:t>	</a:t>
            </a:r>
            <a:r>
              <a:rPr lang="en-US" sz="2000" dirty="0" smtClean="0"/>
              <a:t>with open(FILE_NAME, "a") as file</a:t>
            </a:r>
            <a:r>
              <a:rPr lang="en-US" sz="2100" dirty="0" smtClean="0"/>
              <a:t>:                                   //Code</a:t>
            </a:r>
            <a:br>
              <a:rPr lang="en-US" sz="2100" dirty="0" smtClean="0"/>
            </a:br>
            <a:r>
              <a:rPr lang="en-US" sz="2000" dirty="0" smtClean="0"/>
              <a:t>	</a:t>
            </a:r>
            <a:r>
              <a:rPr lang="en-US" sz="2000" dirty="0" err="1" smtClean="0"/>
              <a:t>file.write</a:t>
            </a:r>
            <a:r>
              <a:rPr lang="en-US" sz="2000" dirty="0" smtClean="0"/>
              <a:t>(name + "," + phone + "\n")</a:t>
            </a:r>
          </a:p>
          <a:p>
            <a:pPr marL="0" indent="0">
              <a:buNone/>
            </a:pPr>
            <a:endParaRPr lang="en-US" sz="2000" dirty="0" smtClean="0"/>
          </a:p>
          <a:p>
            <a:r>
              <a:rPr lang="en-US" sz="2200" b="1" dirty="0" smtClean="0"/>
              <a:t>View Contact</a:t>
            </a:r>
          </a:p>
          <a:p>
            <a:pPr marL="0" indent="0">
              <a:buNone/>
            </a:pPr>
            <a:r>
              <a:rPr lang="en-US" sz="2000" dirty="0" smtClean="0"/>
              <a:t> Reads all contacts from the file.</a:t>
            </a:r>
          </a:p>
          <a:p>
            <a:pPr marL="0" indent="0">
              <a:buNone/>
            </a:pPr>
            <a:r>
              <a:rPr lang="en-US" sz="2000" dirty="0"/>
              <a:t>	</a:t>
            </a:r>
            <a:r>
              <a:rPr lang="en-US" sz="2000" dirty="0" smtClean="0"/>
              <a:t>with open(FILE_NAME, "r") as file</a:t>
            </a:r>
            <a:r>
              <a:rPr lang="en-US" sz="2100" dirty="0" smtClean="0"/>
              <a:t>:                                    //Code</a:t>
            </a:r>
            <a:br>
              <a:rPr lang="en-US" sz="2100" dirty="0" smtClean="0"/>
            </a:br>
            <a:r>
              <a:rPr lang="en-US" sz="2000" dirty="0" smtClean="0"/>
              <a:t>	contacts = </a:t>
            </a:r>
            <a:r>
              <a:rPr lang="en-US" sz="2000" dirty="0" err="1" smtClean="0"/>
              <a:t>file.readlines</a:t>
            </a:r>
            <a:r>
              <a:rPr lang="en-US" sz="2000" dirty="0" smtClean="0"/>
              <a:t>()</a:t>
            </a:r>
          </a:p>
          <a:p>
            <a:pPr marL="0" indent="0">
              <a:buNone/>
            </a:pPr>
            <a:endParaRPr lang="en-US" sz="2000" dirty="0" smtClean="0"/>
          </a:p>
          <a:p>
            <a:r>
              <a:rPr lang="en-US" sz="2500" b="1" dirty="0" smtClean="0"/>
              <a:t>Search Contact</a:t>
            </a:r>
          </a:p>
          <a:p>
            <a:pPr marL="0" indent="0">
              <a:buNone/>
            </a:pPr>
            <a:r>
              <a:rPr lang="en-US" sz="2000" dirty="0" smtClean="0"/>
              <a:t> Searches contact using name.</a:t>
            </a:r>
          </a:p>
          <a:p>
            <a:pPr marL="0" indent="0">
              <a:buNone/>
            </a:pPr>
            <a:r>
              <a:rPr lang="en-US" sz="2000" dirty="0"/>
              <a:t>	</a:t>
            </a:r>
            <a:r>
              <a:rPr lang="en-US" sz="2000" dirty="0" smtClean="0"/>
              <a:t>if </a:t>
            </a:r>
            <a:r>
              <a:rPr lang="en-US" sz="2000" dirty="0" err="1" smtClean="0"/>
              <a:t>search_name.lower</a:t>
            </a:r>
            <a:r>
              <a:rPr lang="en-US" sz="2000" dirty="0" smtClean="0"/>
              <a:t>() == </a:t>
            </a:r>
            <a:r>
              <a:rPr lang="en-US" sz="2000" dirty="0" err="1" smtClean="0"/>
              <a:t>name.lower</a:t>
            </a:r>
            <a:r>
              <a:rPr lang="en-US" sz="2100" dirty="0" smtClean="0"/>
              <a:t>():                           //Code</a:t>
            </a:r>
          </a:p>
          <a:p>
            <a:pPr marL="0" indent="0">
              <a:buNone/>
            </a:pPr>
            <a:endParaRPr lang="en-US" sz="2100" dirty="0" smtClean="0"/>
          </a:p>
          <a:p>
            <a:r>
              <a:rPr lang="en-US" sz="2700" b="1" dirty="0" smtClean="0"/>
              <a:t>Exception Handling</a:t>
            </a:r>
          </a:p>
          <a:p>
            <a:pPr marL="0" indent="0">
              <a:buNone/>
            </a:pPr>
            <a:r>
              <a:rPr lang="en-US" sz="2000" dirty="0" smtClean="0"/>
              <a:t>  Handles file-related errors.</a:t>
            </a:r>
          </a:p>
          <a:p>
            <a:pPr marL="0" indent="0">
              <a:buNone/>
            </a:pPr>
            <a:r>
              <a:rPr lang="en-US" sz="2000" dirty="0"/>
              <a:t>	</a:t>
            </a:r>
            <a:r>
              <a:rPr lang="en-US" sz="2000" dirty="0" smtClean="0"/>
              <a:t>except </a:t>
            </a:r>
            <a:r>
              <a:rPr lang="en-US" sz="2000" dirty="0" err="1" smtClean="0"/>
              <a:t>FileNotFoundError</a:t>
            </a:r>
            <a:r>
              <a:rPr lang="en-US" sz="2100" dirty="0" smtClean="0"/>
              <a:t>:                                                 //Code</a:t>
            </a:r>
            <a:r>
              <a:rPr lang="en-US" sz="2000" dirty="0" smtClean="0"/>
              <a:t/>
            </a:r>
            <a:br>
              <a:rPr lang="en-US" sz="2000" dirty="0" smtClean="0"/>
            </a:br>
            <a:r>
              <a:rPr lang="en-US" sz="2000" dirty="0" smtClean="0"/>
              <a:t>	print("No contacts file found.")</a:t>
            </a:r>
          </a:p>
          <a:p>
            <a:endParaRPr lang="en-US" sz="2000" dirty="0" smtClean="0"/>
          </a:p>
          <a:p>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550160" y="163096"/>
            <a:ext cx="6593840" cy="646331"/>
          </a:xfrm>
          <a:prstGeom prst="rect">
            <a:avLst/>
          </a:prstGeom>
          <a:noFill/>
        </p:spPr>
        <p:txBody>
          <a:bodyPr wrap="square" rtlCol="0">
            <a:spAutoFit/>
          </a:bodyPr>
          <a:lstStyle/>
          <a:p>
            <a:pPr algn="ctr"/>
            <a:r>
              <a:rPr lang="en-US" sz="3600" dirty="0" smtClean="0">
                <a:latin typeface="Times New Roman" panose="02020603050405020304" charset="0"/>
                <a:cs typeface="Times New Roman" panose="02020603050405020304" charset="0"/>
              </a:rPr>
              <a:t>EXECUTION SCREENSHOTS</a:t>
            </a:r>
            <a:endParaRPr lang="en-US" sz="3600" dirty="0">
              <a:latin typeface="Times New Roman" panose="02020603050405020304" charset="0"/>
              <a:cs typeface="Times New Roman" panose="0202060305040502030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99" y="737937"/>
            <a:ext cx="10158663" cy="293570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3777917"/>
            <a:ext cx="10158662" cy="28875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809365" y="233680"/>
            <a:ext cx="5434965" cy="683895"/>
          </a:xfrm>
          <a:prstGeom prst="rect">
            <a:avLst/>
          </a:prstGeom>
          <a:noFill/>
        </p:spPr>
        <p:txBody>
          <a:bodyPr wrap="square" rtlCol="0">
            <a:noAutofit/>
          </a:bodyPr>
          <a:lstStyle/>
          <a:p>
            <a:pPr algn="ctr"/>
            <a:r>
              <a:rPr lang="en-US" sz="4400" dirty="0" smtClean="0">
                <a:latin typeface="Times New Roman" panose="02020603050405020304" charset="0"/>
                <a:cs typeface="Times New Roman" panose="02020603050405020304" charset="0"/>
              </a:rPr>
              <a:t>ADVANTAGES</a:t>
            </a:r>
            <a:endParaRPr lang="en-US" sz="4400" dirty="0">
              <a:latin typeface="Times New Roman" panose="02020603050405020304" charset="0"/>
              <a:cs typeface="Times New Roman" panose="02020603050405020304" charset="0"/>
            </a:endParaRPr>
          </a:p>
        </p:txBody>
      </p:sp>
      <p:sp>
        <p:nvSpPr>
          <p:cNvPr id="7" name="Text Box 6"/>
          <p:cNvSpPr txBox="1"/>
          <p:nvPr/>
        </p:nvSpPr>
        <p:spPr>
          <a:xfrm>
            <a:off x="3898265" y="3147695"/>
            <a:ext cx="4064000" cy="368300"/>
          </a:xfrm>
          <a:prstGeom prst="rect">
            <a:avLst/>
          </a:prstGeom>
          <a:noFill/>
        </p:spPr>
        <p:txBody>
          <a:bodyPr wrap="square" rtlCol="0">
            <a:spAutoFit/>
          </a:bodyPr>
          <a:lstStyle/>
          <a:p>
            <a:endParaRPr lang="en-US"/>
          </a:p>
        </p:txBody>
      </p:sp>
      <p:sp>
        <p:nvSpPr>
          <p:cNvPr id="3" name="Rectangle 2"/>
          <p:cNvSpPr/>
          <p:nvPr/>
        </p:nvSpPr>
        <p:spPr>
          <a:xfrm>
            <a:off x="469900" y="1002249"/>
            <a:ext cx="11379200" cy="8248412"/>
          </a:xfrm>
          <a:prstGeom prst="rect">
            <a:avLst/>
          </a:prstGeom>
        </p:spPr>
        <p:txBody>
          <a:bodyPr wrap="square">
            <a:spAutoFit/>
          </a:bodyPr>
          <a:lstStyle/>
          <a:p>
            <a:r>
              <a:rPr lang="en-US" sz="2200" b="1" dirty="0" smtClean="0"/>
              <a:t>1. Simple Interface</a:t>
            </a:r>
            <a:r>
              <a:rPr lang="en-US" sz="2000" dirty="0" smtClean="0"/>
              <a:t/>
            </a:r>
            <a:br>
              <a:rPr lang="en-US" sz="2000" dirty="0" smtClean="0"/>
            </a:br>
            <a:r>
              <a:rPr lang="en-US" dirty="0" smtClean="0"/>
              <a:t>The application provides a clean menu-driven interface with clear options such as Add Contact, View Contacts, and Search Contact.</a:t>
            </a:r>
            <a:br>
              <a:rPr lang="en-US" dirty="0" smtClean="0"/>
            </a:br>
            <a:r>
              <a:rPr lang="en-US" dirty="0" smtClean="0"/>
              <a:t>This makes navigation easy and helps users perform tasks without confusion</a:t>
            </a:r>
            <a:r>
              <a:rPr lang="en-US" sz="2000" dirty="0" smtClean="0"/>
              <a:t>.</a:t>
            </a:r>
          </a:p>
          <a:p>
            <a:r>
              <a:rPr lang="en-US" sz="2200" b="1" dirty="0" smtClean="0"/>
              <a:t>2. Easy to Use</a:t>
            </a:r>
            <a:r>
              <a:rPr lang="en-US" sz="2000" dirty="0" smtClean="0"/>
              <a:t/>
            </a:r>
            <a:br>
              <a:rPr lang="en-US" sz="2000" dirty="0" smtClean="0"/>
            </a:br>
            <a:r>
              <a:rPr lang="en-US" dirty="0" smtClean="0"/>
              <a:t>Users can manage contacts by entering simple keyboard inputs without requiring any technical knowledge.</a:t>
            </a:r>
            <a:br>
              <a:rPr lang="en-US" dirty="0" smtClean="0"/>
            </a:br>
            <a:r>
              <a:rPr lang="en-US" dirty="0" smtClean="0"/>
              <a:t>The straightforward design allows anyone to quickly add, view, or search contacts</a:t>
            </a:r>
            <a:r>
              <a:rPr lang="en-US" sz="2000" dirty="0" smtClean="0"/>
              <a:t>.</a:t>
            </a:r>
          </a:p>
          <a:p>
            <a:r>
              <a:rPr lang="en-US" sz="2200" b="1" dirty="0" smtClean="0"/>
              <a:t>3. Permanent Data Storage</a:t>
            </a:r>
            <a:r>
              <a:rPr lang="en-US" sz="2000" dirty="0" smtClean="0"/>
              <a:t/>
            </a:r>
            <a:br>
              <a:rPr lang="en-US" sz="2000" dirty="0" smtClean="0"/>
            </a:br>
            <a:r>
              <a:rPr lang="en-US" dirty="0" smtClean="0"/>
              <a:t>Contact information is stored in a text file, ensuring that data is not lost when the program is closed.</a:t>
            </a:r>
            <a:br>
              <a:rPr lang="en-US" dirty="0" smtClean="0"/>
            </a:br>
            <a:r>
              <a:rPr lang="en-US" dirty="0" smtClean="0"/>
              <a:t>Users can access previously saved contacts whenever they reopen the application.</a:t>
            </a:r>
          </a:p>
          <a:p>
            <a:r>
              <a:rPr lang="en-US" sz="2200" b="1" dirty="0" smtClean="0"/>
              <a:t>4. Fast Search Operation</a:t>
            </a:r>
            <a:r>
              <a:rPr lang="en-US" sz="2000" dirty="0" smtClean="0"/>
              <a:t/>
            </a:r>
            <a:br>
              <a:rPr lang="en-US" sz="2000" dirty="0" smtClean="0"/>
            </a:br>
            <a:r>
              <a:rPr lang="en-US" dirty="0" smtClean="0"/>
              <a:t>The search feature quickly locates a contact by matching the entered name with stored records.</a:t>
            </a:r>
            <a:br>
              <a:rPr lang="en-US" dirty="0" smtClean="0"/>
            </a:br>
            <a:r>
              <a:rPr lang="en-US" dirty="0" smtClean="0"/>
              <a:t>This reduces the time required to find specific contact details from the contact list</a:t>
            </a:r>
            <a:r>
              <a:rPr lang="en-US" sz="2000" dirty="0" smtClean="0"/>
              <a:t>.</a:t>
            </a:r>
          </a:p>
          <a:p>
            <a:r>
              <a:rPr lang="en-US" sz="2200" b="1" dirty="0" smtClean="0"/>
              <a:t>5. Beginner Friendly</a:t>
            </a:r>
            <a:r>
              <a:rPr lang="en-US" sz="2000" dirty="0" smtClean="0"/>
              <a:t/>
            </a:r>
            <a:br>
              <a:rPr lang="en-US" sz="2000" dirty="0" smtClean="0"/>
            </a:br>
            <a:r>
              <a:rPr lang="en-US" dirty="0" smtClean="0"/>
              <a:t>The project uses basic Python concepts such as loops, conditions, file handling, and strings.</a:t>
            </a:r>
            <a:br>
              <a:rPr lang="en-US" dirty="0" smtClean="0"/>
            </a:br>
            <a:r>
              <a:rPr lang="en-US" dirty="0" smtClean="0"/>
              <a:t>It is easy for beginners to understand, practice, and enhance with additional features in the future.</a:t>
            </a:r>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smtClean="0"/>
          </a:p>
          <a:p>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246120" y="518160"/>
            <a:ext cx="6482080" cy="768350"/>
          </a:xfrm>
          <a:prstGeom prst="rect">
            <a:avLst/>
          </a:prstGeom>
          <a:noFill/>
        </p:spPr>
        <p:txBody>
          <a:bodyPr wrap="square" rtlCol="0">
            <a:spAutoFit/>
          </a:bodyPr>
          <a:lstStyle/>
          <a:p>
            <a:pPr algn="ctr"/>
            <a:r>
              <a:rPr lang="en-US" sz="4400">
                <a:latin typeface="Times New Roman" panose="02020603050405020304" charset="0"/>
                <a:cs typeface="Times New Roman" panose="02020603050405020304" charset="0"/>
              </a:rPr>
              <a:t>CONCLUSION</a:t>
            </a:r>
          </a:p>
        </p:txBody>
      </p:sp>
      <p:sp>
        <p:nvSpPr>
          <p:cNvPr id="3" name="Text Box 2"/>
          <p:cNvSpPr txBox="1"/>
          <p:nvPr/>
        </p:nvSpPr>
        <p:spPr>
          <a:xfrm>
            <a:off x="837398" y="1492990"/>
            <a:ext cx="10692297" cy="5016758"/>
          </a:xfrm>
          <a:prstGeom prst="rect">
            <a:avLst/>
          </a:prstGeom>
          <a:noFill/>
        </p:spPr>
        <p:txBody>
          <a:bodyPr wrap="square" rtlCol="0">
            <a:spAutoFit/>
          </a:bodyPr>
          <a:lstStyle/>
          <a:p>
            <a:pPr algn="just"/>
            <a:r>
              <a:rPr lang="en-US" dirty="0" smtClean="0"/>
              <a:t>	</a:t>
            </a:r>
            <a:r>
              <a:rPr lang="en-US" sz="2000" dirty="0" smtClean="0"/>
              <a:t>The </a:t>
            </a:r>
            <a:r>
              <a:rPr lang="en-US" sz="2000" dirty="0"/>
              <a:t>Contact Book Application successfully demonstrates the practical implementation of fundamental Python programming concepts such as loops, conditional statements, file handling, functions, and exception handling. Through a simple command-line interface, the application enables users to perform essential contact management operations, including adding new contacts, viewing existing contacts, and searching for specific contact details.</a:t>
            </a:r>
          </a:p>
          <a:p>
            <a:pPr algn="just"/>
            <a:r>
              <a:rPr lang="en-US" sz="2000" dirty="0" smtClean="0"/>
              <a:t>	The </a:t>
            </a:r>
            <a:r>
              <a:rPr lang="en-US" sz="2000" dirty="0"/>
              <a:t>application provides an efficient and organized way to store contact information while ensuring data persistence through text file storage. Unlike temporary memory-based programs, the saved contact data remains available even after the application is closed and reopened. This makes the system more reliable and useful for everyday contact management tasks.</a:t>
            </a:r>
          </a:p>
          <a:p>
            <a:pPr algn="just"/>
            <a:r>
              <a:rPr lang="en-US" sz="2000" dirty="0" smtClean="0"/>
              <a:t>	Overall</a:t>
            </a:r>
            <a:r>
              <a:rPr lang="en-US" sz="2000" dirty="0"/>
              <a:t>, the Contact Book Application serves as an excellent beginner-level project that combines multiple Python concepts into a practical real-world solution. It provides a strong foundation for learning software development and can be further enhanced by adding features such as contact editing, deletion, sorting, graphical user interfaces, and database integration in future versions.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55205"/>
            <a:ext cx="9144000" cy="2387600"/>
          </a:xfrm>
        </p:spPr>
        <p:txBody>
          <a:bodyPr>
            <a:noAutofit/>
          </a:bodyPr>
          <a:lstStyle/>
          <a:p>
            <a:r>
              <a:rPr lang="en-US" altLang="zh-CN" sz="5400" dirty="0">
                <a:sym typeface="+mn-ea"/>
              </a:rPr>
              <a:t>THANK YOU</a:t>
            </a:r>
            <a:endParaRPr lang="en-US" altLang="zh-CN" sz="5400" dirty="0" smtClean="0">
              <a:solidFill>
                <a:schemeClr val="bg1"/>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32" name="任意多边形 31"/>
          <p:cNvSpPr/>
          <p:nvPr/>
        </p:nvSpPr>
        <p:spPr>
          <a:xfrm>
            <a:off x="4071620" y="3784830"/>
            <a:ext cx="4032250" cy="25400"/>
          </a:xfrm>
          <a:custGeom>
            <a:avLst/>
            <a:gdLst>
              <a:gd name="connsiteX0" fmla="*/ 0 w 1224115"/>
              <a:gd name="connsiteY0" fmla="*/ 0 h 45719"/>
              <a:gd name="connsiteX1" fmla="*/ 1224115 w 1224115"/>
              <a:gd name="connsiteY1" fmla="*/ 0 h 45719"/>
              <a:gd name="connsiteX2" fmla="*/ 1224115 w 1224115"/>
              <a:gd name="connsiteY2" fmla="*/ 45719 h 45719"/>
              <a:gd name="connsiteX3" fmla="*/ 0 w 1224115"/>
              <a:gd name="connsiteY3" fmla="*/ 45719 h 45719"/>
              <a:gd name="connsiteX4" fmla="*/ 0 w 1224115"/>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115" h="45719">
                <a:moveTo>
                  <a:pt x="0" y="0"/>
                </a:moveTo>
                <a:lnTo>
                  <a:pt x="1224115" y="0"/>
                </a:lnTo>
                <a:lnTo>
                  <a:pt x="1224115" y="45719"/>
                </a:lnTo>
                <a:lnTo>
                  <a:pt x="0" y="45719"/>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Arial" panose="020B0604020202020204" pitchFamily="34" charset="0"/>
            </a:endParaRPr>
          </a:p>
        </p:txBody>
      </p:sp>
      <p:sp>
        <p:nvSpPr>
          <p:cNvPr id="4" name="任意多边形 31"/>
          <p:cNvSpPr/>
          <p:nvPr/>
        </p:nvSpPr>
        <p:spPr>
          <a:xfrm>
            <a:off x="4079725" y="2719740"/>
            <a:ext cx="4032000" cy="25200"/>
          </a:xfrm>
          <a:custGeom>
            <a:avLst/>
            <a:gdLst>
              <a:gd name="connsiteX0" fmla="*/ 0 w 1224115"/>
              <a:gd name="connsiteY0" fmla="*/ 0 h 45719"/>
              <a:gd name="connsiteX1" fmla="*/ 1224115 w 1224115"/>
              <a:gd name="connsiteY1" fmla="*/ 0 h 45719"/>
              <a:gd name="connsiteX2" fmla="*/ 1224115 w 1224115"/>
              <a:gd name="connsiteY2" fmla="*/ 45719 h 45719"/>
              <a:gd name="connsiteX3" fmla="*/ 0 w 1224115"/>
              <a:gd name="connsiteY3" fmla="*/ 45719 h 45719"/>
              <a:gd name="connsiteX4" fmla="*/ 0 w 1224115"/>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115" h="45719">
                <a:moveTo>
                  <a:pt x="0" y="0"/>
                </a:moveTo>
                <a:lnTo>
                  <a:pt x="1224115" y="0"/>
                </a:lnTo>
                <a:lnTo>
                  <a:pt x="1224115" y="45719"/>
                </a:lnTo>
                <a:lnTo>
                  <a:pt x="0" y="45719"/>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细字体">
      <a:majorFont>
        <a:latin typeface="Segoe UI Light"/>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802</Words>
  <Application>Microsoft Office PowerPoint</Application>
  <PresentationFormat>Custom</PresentationFormat>
  <Paragraphs>155</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主题</vt:lpstr>
      <vt:lpstr>CONTACT BOOK APPLICATION.</vt:lpstr>
      <vt:lpstr>CONTENTS</vt:lpstr>
      <vt:lpstr>ABSTRACT</vt:lpstr>
      <vt:lpstr> PROBLEM STATEMENT</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AnnJo</dc:creator>
  <cp:lastModifiedBy>LENOVO</cp:lastModifiedBy>
  <cp:revision>101</cp:revision>
  <dcterms:created xsi:type="dcterms:W3CDTF">2014-12-12T13:36:00Z</dcterms:created>
  <dcterms:modified xsi:type="dcterms:W3CDTF">2026-06-20T12:38:01Z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1033-12.2.0.20782</vt:lpwstr>
  </property>
  <property fmtid="{D5CDD505-2E9C-101B-9397-08002B2CF9AE}" pid="3" name="ICV">
    <vt:lpwstr>F8B0431E54184275BD0A6D823EA16DF8_13</vt:lpwstr>
  </property>
</Properties>
</file>